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you farm around Novi Sad. Annual rainfall is basically the same. That number is lying. AgriSense: plot-level copilot for Serbia.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a landowner actually needs answered — for this field, not the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Novi Sad annual rain 599 to 609. Looks fine. Then point at summer water: minus 241 to minus 298. Fifty-seven millimetres more stress, hidden inside a stable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Maize peak demand is June–August — the window that deteriorated. Irrigation gap 327 to 389. Exposure 2.48. Wheat is largely stable: off the field by early July.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Zrenjanin: days at or above 35°C from 2.7 to 8.0. Almost a tripling. Summer deficit minus 260 to minus 312. Outlook 46 to 55 days above 30 — a range, not a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tool shouted crisis on every pin, you should not believe it. Niš annual rain 521 to 682. Summer deficit eased. Verdict: no change indicated.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Memory: ERA5 via Open-Meteo. Exposure: FAO-56 on Serbia’s real crops. Plan: Grok explains the measured numbers — it does not generate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pitch is not AI for farms. Annual rain can hide a worse summer, and the right response is different in Novi Sad, Zrenjanin, and Niš. Not a forecast.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SERBIA  ·  PLOT BY PLOT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0" b="1">
                <a:solidFill>
                  <a:srgbClr val="1B2D24"/>
                </a:solidFill>
                <a:latin typeface="Georgia"/>
              </a:rPr>
              <a:t>AgriSense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E5349"/>
                </a:solidFill>
                <a:latin typeface="Calibri"/>
              </a:rPr>
              <a:t>Climate-adaptive land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417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THIS PLOT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659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F5F46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92807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B2D24"/>
                </a:solidFill>
                <a:latin typeface="Georgia"/>
              </a:rPr>
              <a:t>What hit this field?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260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F5F46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5292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B2D24"/>
                </a:solidFill>
                <a:latin typeface="Georgia"/>
              </a:rPr>
              <a:t>Is summer drying?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86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F5F46"/>
                </a:solidFill>
                <a:latin typeface="Georg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81304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B2D24"/>
                </a:solidFill>
                <a:latin typeface="Georgia"/>
              </a:rPr>
              <a:t>Keep maize — or change?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NOVI SAD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874519"/>
            <a:ext cx="4617720" cy="288036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194559"/>
            <a:ext cx="3977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ANNUAL RAIN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4400" b="1">
                <a:solidFill>
                  <a:srgbClr val="1B2D24"/>
                </a:solidFill>
                <a:latin typeface="Georgia"/>
              </a:rPr>
              <a:t>599 </a:t>
            </a:r>
            <a:r>
              <a:rPr sz="3600" b="0">
                <a:solidFill>
                  <a:srgbClr val="6A7C72"/>
                </a:solidFill>
                <a:latin typeface="Georgia"/>
              </a:rPr>
              <a:t>→ </a:t>
            </a:r>
            <a:r>
              <a:rPr sz="4400" b="1">
                <a:solidFill>
                  <a:srgbClr val="1B2D24"/>
                </a:solidFill>
                <a:latin typeface="Georgia"/>
              </a:rPr>
              <a:t>609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3E5349"/>
                </a:solidFill>
                <a:latin typeface="Calibri"/>
              </a:rPr>
              <a:t>Looks fine.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4617720" cy="2880360"/>
          </a:xfrm>
          <a:prstGeom prst="roundRect">
            <a:avLst>
              <a:gd name="adj" fmla="val 16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59"/>
            <a:ext cx="3977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SUMMER WATER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4400" b="1">
                <a:solidFill>
                  <a:srgbClr val="A84840"/>
                </a:solidFill>
                <a:latin typeface="Georgia"/>
              </a:rPr>
              <a:t>−241 </a:t>
            </a:r>
            <a:r>
              <a:rPr sz="3600" b="0">
                <a:solidFill>
                  <a:srgbClr val="6A7C72"/>
                </a:solidFill>
                <a:latin typeface="Georgia"/>
              </a:rPr>
              <a:t>→ </a:t>
            </a:r>
            <a:r>
              <a:rPr sz="4400" b="1">
                <a:solidFill>
                  <a:srgbClr val="A84840"/>
                </a:solidFill>
                <a:latin typeface="Georgia"/>
              </a:rPr>
              <a:t>−298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3E5349"/>
                </a:solidFill>
                <a:latin typeface="Calibri"/>
              </a:rPr>
              <a:t>−57 mm. Hidden.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NOVI SAD  ·  SAME CLIMATE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874519"/>
            <a:ext cx="4617720" cy="2880360"/>
          </a:xfrm>
          <a:prstGeom prst="roundRect">
            <a:avLst>
              <a:gd name="adj" fmla="val 16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194559"/>
            <a:ext cx="3977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MAIZE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5200" b="1">
                <a:solidFill>
                  <a:srgbClr val="A84840"/>
                </a:solidFill>
                <a:latin typeface="Georgia"/>
              </a:rPr>
              <a:t>2.48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3E5349"/>
                </a:solidFill>
                <a:latin typeface="Calibri"/>
              </a:rPr>
              <a:t>Jun–Aug. 501k 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4023359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F8E8E6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4032503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4840"/>
                </a:solidFill>
                <a:latin typeface="Calibri"/>
              </a:rPr>
              <a:t>highest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4617720" cy="288036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59"/>
            <a:ext cx="3977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WHEAT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5200" b="1">
                <a:solidFill>
                  <a:srgbClr val="1B2D24"/>
                </a:solidFill>
                <a:latin typeface="Georgia"/>
              </a:rPr>
              <a:t>stable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3E5349"/>
                </a:solidFill>
                <a:latin typeface="Calibri"/>
              </a:rPr>
              <a:t>Harvested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023359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4F0E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32503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5F46"/>
                </a:solidFill>
                <a:latin typeface="Calibri"/>
              </a:rPr>
              <a:t>0.41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ZRENJANIN  ·  DAYS ≥ 35°C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6A7C72"/>
                </a:solidFill>
                <a:latin typeface="Georgia"/>
              </a:rPr>
              <a:t>2.7  </a:t>
            </a:r>
            <a:r>
              <a:rPr sz="7200" b="0">
                <a:solidFill>
                  <a:srgbClr val="6A7C72"/>
                </a:solidFill>
                <a:latin typeface="Georgia"/>
              </a:rPr>
              <a:t>→  </a:t>
            </a:r>
            <a:r>
              <a:rPr sz="9600" b="1">
                <a:solidFill>
                  <a:srgbClr val="A84840"/>
                </a:solidFill>
                <a:latin typeface="Georgia"/>
              </a:rPr>
              <a:t>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E5349"/>
                </a:solidFill>
                <a:latin typeface="Calibri"/>
              </a:rPr>
              <a:t>Nearly triple.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NIŠ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9728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B2D24"/>
                </a:solidFill>
                <a:latin typeface="Georgia"/>
              </a:rPr>
              <a:t>No change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B2D24"/>
                </a:solidFill>
                <a:latin typeface="Georgia"/>
              </a:rPr>
              <a:t>indicated.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3246120"/>
            <a:ext cx="4617720" cy="1965960"/>
          </a:xfrm>
          <a:prstGeom prst="roundRect">
            <a:avLst>
              <a:gd name="adj" fmla="val 16000"/>
            </a:avLst>
          </a:prstGeom>
          <a:solidFill>
            <a:srgbClr val="ECF6EF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3520440"/>
            <a:ext cx="3977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ANNUAL RAIN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4000" b="1">
                <a:solidFill>
                  <a:srgbClr val="2F5F46"/>
                </a:solidFill>
                <a:latin typeface="Georgia"/>
              </a:rPr>
              <a:t>521 </a:t>
            </a:r>
            <a:r>
              <a:rPr sz="3200" b="0">
                <a:solidFill>
                  <a:srgbClr val="6A7C72"/>
                </a:solidFill>
                <a:latin typeface="Georgia"/>
              </a:rPr>
              <a:t>→ </a:t>
            </a:r>
            <a:r>
              <a:rPr sz="4000" b="1">
                <a:solidFill>
                  <a:srgbClr val="2F5F46"/>
                </a:solidFill>
                <a:latin typeface="Georgia"/>
              </a:rPr>
              <a:t>682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46120"/>
            <a:ext cx="4617720" cy="1965960"/>
          </a:xfrm>
          <a:prstGeom prst="roundRect">
            <a:avLst>
              <a:gd name="adj" fmla="val 16000"/>
            </a:avLst>
          </a:prstGeom>
          <a:solidFill>
            <a:srgbClr val="ECF6EF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520440"/>
            <a:ext cx="3977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SUMMER WATER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4000" b="1">
                <a:solidFill>
                  <a:srgbClr val="2F5F46"/>
                </a:solidFill>
                <a:latin typeface="Georgia"/>
              </a:rPr>
              <a:t>−287 </a:t>
            </a:r>
            <a:r>
              <a:rPr sz="3200" b="0">
                <a:solidFill>
                  <a:srgbClr val="6A7C72"/>
                </a:solidFill>
                <a:latin typeface="Georgia"/>
              </a:rPr>
              <a:t>→ </a:t>
            </a:r>
            <a:r>
              <a:rPr sz="4000" b="1">
                <a:solidFill>
                  <a:srgbClr val="2F5F46"/>
                </a:solidFill>
                <a:latin typeface="Georgia"/>
              </a:rPr>
              <a:t>−270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UNDER THE HOOD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103120"/>
            <a:ext cx="3200400" cy="274320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OPEN DATA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3200" b="1">
                <a:solidFill>
                  <a:srgbClr val="1B2D24"/>
                </a:solidFill>
                <a:latin typeface="Georgia"/>
              </a:rPr>
              <a:t>Memory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3E5349"/>
                </a:solidFill>
                <a:latin typeface="Calibri"/>
              </a:rPr>
              <a:t>ERA5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103120"/>
            <a:ext cx="3200400" cy="274320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246888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THIS CROP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3200" b="1">
                <a:solidFill>
                  <a:srgbClr val="1B2D24"/>
                </a:solidFill>
                <a:latin typeface="Georgia"/>
              </a:rPr>
              <a:t>Exposure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3E5349"/>
                </a:solidFill>
                <a:latin typeface="Calibri"/>
              </a:rPr>
              <a:t>FAO-56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4424" y="2103120"/>
            <a:ext cx="3200400" cy="2743200"/>
          </a:xfrm>
          <a:prstGeom prst="roundRect">
            <a:avLst>
              <a:gd name="adj" fmla="val 16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468880"/>
            <a:ext cx="2651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200">
                <a:solidFill>
                  <a:srgbClr val="6A7C72"/>
                </a:solidFill>
                <a:latin typeface="Calibri"/>
              </a:rPr>
              <a:t>THIS SEASON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3200" b="1">
                <a:solidFill>
                  <a:srgbClr val="1B2D24"/>
                </a:solidFill>
                <a:latin typeface="Georgia"/>
              </a:rPr>
              <a:t>Plan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3E5349"/>
                </a:solidFill>
                <a:latin typeface="Calibri"/>
              </a:rPr>
              <a:t>Grok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645920" y="-2011680"/>
            <a:ext cx="6583680" cy="4389120"/>
          </a:xfrm>
          <a:prstGeom prst="ellipse">
            <a:avLst/>
          </a:prstGeom>
          <a:solidFill>
            <a:srgbClr val="B4D2BE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1828800"/>
            <a:ext cx="5852160" cy="4023360"/>
          </a:xfrm>
          <a:prstGeom prst="ellipse">
            <a:avLst/>
          </a:prstGeom>
          <a:solidFill>
            <a:srgbClr val="E8DCC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4937760"/>
            <a:ext cx="7315200" cy="3840480"/>
          </a:xfrm>
          <a:prstGeom prst="ellipse">
            <a:avLst/>
          </a:prstGeom>
          <a:solidFill>
            <a:srgbClr val="A8C4B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spc="1400">
                <a:solidFill>
                  <a:srgbClr val="6A7C72"/>
                </a:solidFill>
                <a:latin typeface="Calibri"/>
              </a:rPr>
              <a:t>MEASURED  ·  NOT A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B2D24"/>
                </a:solidFill>
                <a:latin typeface="Georgia"/>
              </a:rPr>
              <a:t>A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0927" y="3703320"/>
            <a:ext cx="1554480" cy="1417320"/>
          </a:xfrm>
          <a:prstGeom prst="roundRect">
            <a:avLst>
              <a:gd name="adj" fmla="val 18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25015" y="3904488"/>
            <a:ext cx="146304" cy="146304"/>
          </a:xfrm>
          <a:prstGeom prst="ellipse">
            <a:avLst/>
          </a:prstGeom>
          <a:solidFill>
            <a:srgbClr val="A8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791" y="4142232"/>
            <a:ext cx="1444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D24"/>
                </a:solidFill>
                <a:latin typeface="Calibri"/>
              </a:rPr>
              <a:t>Subotica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 spc="800">
                <a:solidFill>
                  <a:srgbClr val="6A7C72"/>
                </a:solidFill>
                <a:latin typeface="Calibri"/>
              </a:rPr>
              <a:t>MASK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9999" y="3703320"/>
            <a:ext cx="1554480" cy="1417320"/>
          </a:xfrm>
          <a:prstGeom prst="roundRect">
            <a:avLst>
              <a:gd name="adj" fmla="val 18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44087" y="3904488"/>
            <a:ext cx="146304" cy="146304"/>
          </a:xfrm>
          <a:prstGeom prst="ellipse">
            <a:avLst/>
          </a:prstGeom>
          <a:solidFill>
            <a:srgbClr val="A8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4863" y="4142232"/>
            <a:ext cx="1444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D24"/>
                </a:solidFill>
                <a:latin typeface="Calibri"/>
              </a:rPr>
              <a:t>Novi Sad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 spc="800">
                <a:solidFill>
                  <a:srgbClr val="6A7C72"/>
                </a:solidFill>
                <a:latin typeface="Calibri"/>
              </a:rPr>
              <a:t>MASK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9071" y="3703320"/>
            <a:ext cx="1554480" cy="1417320"/>
          </a:xfrm>
          <a:prstGeom prst="roundRect">
            <a:avLst>
              <a:gd name="adj" fmla="val 18000"/>
            </a:avLst>
          </a:prstGeom>
          <a:solidFill>
            <a:srgbClr val="FFF6F2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63159" y="3904488"/>
            <a:ext cx="146304" cy="146304"/>
          </a:xfrm>
          <a:prstGeom prst="ellipse">
            <a:avLst/>
          </a:prstGeom>
          <a:solidFill>
            <a:srgbClr val="A8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3935" y="4142232"/>
            <a:ext cx="1444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D24"/>
                </a:solidFill>
                <a:latin typeface="Calibri"/>
              </a:rPr>
              <a:t>Zrenjanin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 spc="800">
                <a:solidFill>
                  <a:srgbClr val="6A7C72"/>
                </a:solidFill>
                <a:latin typeface="Calibri"/>
              </a:rPr>
              <a:t>URGENT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703320"/>
            <a:ext cx="1554480" cy="1417320"/>
          </a:xfrm>
          <a:prstGeom prst="roundRect">
            <a:avLst>
              <a:gd name="adj" fmla="val 18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2231" y="3904488"/>
            <a:ext cx="146304" cy="146304"/>
          </a:xfrm>
          <a:prstGeom prst="ellipse">
            <a:avLst/>
          </a:prstGeom>
          <a:solidFill>
            <a:srgbClr val="2F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142232"/>
            <a:ext cx="1444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D24"/>
                </a:solidFill>
                <a:latin typeface="Calibri"/>
              </a:rPr>
              <a:t>Belgrade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 spc="800">
                <a:solidFill>
                  <a:srgbClr val="6A7C72"/>
                </a:solidFill>
                <a:latin typeface="Calibri"/>
              </a:rPr>
              <a:t>FLAT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7215" y="3703320"/>
            <a:ext cx="1554480" cy="1417320"/>
          </a:xfrm>
          <a:prstGeom prst="roundRect">
            <a:avLst>
              <a:gd name="adj" fmla="val 18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01303" y="3904488"/>
            <a:ext cx="146304" cy="146304"/>
          </a:xfrm>
          <a:prstGeom prst="ellipse">
            <a:avLst/>
          </a:prstGeom>
          <a:solidFill>
            <a:srgbClr val="2F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2079" y="4142232"/>
            <a:ext cx="1444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D24"/>
                </a:solidFill>
                <a:latin typeface="Calibri"/>
              </a:rPr>
              <a:t>Kraljevo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 spc="800">
                <a:solidFill>
                  <a:srgbClr val="6A7C72"/>
                </a:solidFill>
                <a:latin typeface="Calibri"/>
              </a:rPr>
              <a:t>STABLE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6287" y="3703320"/>
            <a:ext cx="1554480" cy="1417320"/>
          </a:xfrm>
          <a:prstGeom prst="roundRect">
            <a:avLst>
              <a:gd name="adj" fmla="val 18000"/>
            </a:avLst>
          </a:prstGeom>
          <a:solidFill>
            <a:srgbClr val="FFFCF8"/>
          </a:solidFill>
          <a:ln w="12700">
            <a:solidFill>
              <a:srgbClr val="C9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20375" y="3904488"/>
            <a:ext cx="146304" cy="146304"/>
          </a:xfrm>
          <a:prstGeom prst="ellipse">
            <a:avLst/>
          </a:prstGeom>
          <a:solidFill>
            <a:srgbClr val="2F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1151" y="4142232"/>
            <a:ext cx="1444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D24"/>
                </a:solidFill>
                <a:latin typeface="Calibri"/>
              </a:rPr>
              <a:t>Niš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000" b="1" spc="800">
                <a:solidFill>
                  <a:srgbClr val="6A7C72"/>
                </a:solidFill>
                <a:latin typeface="Calibri"/>
              </a:rPr>
              <a:t>BETTER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