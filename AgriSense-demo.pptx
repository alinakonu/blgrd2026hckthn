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Milan: Vojvodina, maize and wheat, seed order in February. AgriSense is his plot copilot, not a climate TED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 climate problem first. Then: a newspaper is not a planting decision. AgriSense exists because the country average hides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three questions. The rest of the deck answers them in order, as the live app would.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hook. He almost does nothing. Then point at summer water. Fifty-seven millimetres more stress, inside a stable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climate, different crop. Irrigation gap maize 327→389. Wheat escapes the window. That is why we dropped the mango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Uncle in Zrenjanin. 2.7 to 8.0. Then: we still do not timestamp a 2034 storm. Range,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Cousin in Niš. If we skip this slide the pitch is generic alarm. Keep the rotation. Do not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 does not fetch APIs. We do. Memory, exposure, plan. LLM explains numbers it did not invent.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Milan’s February. Novi Sad is his plot, Zrenjanin the uncle, Niš the cousin. Offer the three clicks in the live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1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Milan farms maize and wheat outside Novi Sad. He must order seed in February — before he knows if the year was actually dry.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SERBIA  ·  ONE FARMER  ·  ONE 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1B2D24"/>
                </a:solidFill>
                <a:latin typeface="Georgia"/>
              </a:rPr>
              <a:t>AgriSense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400" b="0" i="1">
                <a:solidFill>
                  <a:srgbClr val="3E5349"/>
                </a:solidFill>
                <a:latin typeface="Georgia"/>
              </a:rPr>
              <a:t>The climate is changing. His rain gauge still looks fine.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E5349"/>
                </a:solidFill>
                <a:latin typeface="Calibri"/>
              </a:rPr>
              <a:t>A land copilot for the field he actually plants.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We do not brief him on the planet. We show what already happened on his plot — and what to do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Headlines say Serbia is getting hotter and wilder. His seed catalogue is still last year’s. The country is not a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772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THE CLIMATE HE ALREADY FEELS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B2D24"/>
                </a:solidFill>
                <a:latin typeface="Georgia"/>
              </a:rPr>
              <a:t>Hotter summers. Some years drown. Some years burn.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E5349"/>
                </a:solidFill>
                <a:latin typeface="Calibri"/>
              </a:rPr>
              <a:t>That is the climate story. It does not tell him what to plant.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06040"/>
            <a:ext cx="3520440" cy="288036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A7C72"/>
                </a:solidFill>
                <a:latin typeface="Calibri"/>
              </a:rPr>
              <a:t>HOTTER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D24"/>
                </a:solidFill>
                <a:latin typeface="Georgia"/>
              </a:rPr>
              <a:t>Heatwaves he can feel. He cannot count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06040"/>
            <a:ext cx="3520440" cy="288036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A7C72"/>
                </a:solidFill>
                <a:latin typeface="Calibri"/>
              </a:rPr>
              <a:t>WETTER / DRIER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D24"/>
                </a:solidFill>
                <a:latin typeface="Georgia"/>
              </a:rPr>
              <a:t>Flood years and drought years in the same decade.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606040"/>
            <a:ext cx="3520440" cy="288036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834640"/>
            <a:ext cx="2971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6A7C72"/>
                </a:solidFill>
                <a:latin typeface="Calibri"/>
              </a:rPr>
              <a:t>NOT HIS PLOT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D24"/>
                </a:solidFill>
                <a:latin typeface="Georgia"/>
              </a:rPr>
              <a:t>A national headline averages his uncle in Banat with his cousin in Niš.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Climate is the backdrop. The app answers the plot: months, this crop, this seed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He already knows summers feel worse. He does not know whether HIS field got harder to farm — or only the news did.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WHAT HE ACTUALLY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258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5F46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271016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D24"/>
                </a:solidFill>
                <a:latin typeface="Georgia"/>
              </a:rPr>
              <a:t>What already hit this field?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39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5F46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22575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D24"/>
                </a:solidFill>
                <a:latin typeface="Georgia"/>
              </a:rPr>
              <a:t>Is my summer drying — even if the year looks wet?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8999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5F46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74135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D24"/>
                </a:solidFill>
                <a:latin typeface="Georgia"/>
              </a:rPr>
              <a:t>Keep maize, change practice, or leave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Those three questions are the product. Pick a pin. See history, summer water, crop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Milan’s year-end rain is 609 mm — almost the same as his father’s 599. He nearly orders the same maize, on the same calendar.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49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NOVI SAD  ·  THE YEAR HE THINKS WAS FINE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143000"/>
            <a:ext cx="4709160" cy="4160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508760"/>
            <a:ext cx="4069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WHAT HE SEES  ·  ANNUAL RAIN</a:t>
            </a:r>
          </a:p>
          <a:p>
            <a:pPr algn="l">
              <a:spcBef>
                <a:spcPts val="1400"/>
              </a:spcBef>
              <a:spcAft>
                <a:spcPts val="1200"/>
              </a:spcAft>
            </a:pPr>
            <a:r>
              <a:rPr sz="4400" b="1" i="0">
                <a:solidFill>
                  <a:srgbClr val="1B2D24"/>
                </a:solidFill>
                <a:latin typeface="Georgia"/>
              </a:rPr>
              <a:t>599 </a:t>
            </a:r>
            <a:r>
              <a:rPr sz="3200" b="0" i="0">
                <a:solidFill>
                  <a:srgbClr val="6A7C72"/>
                </a:solidFill>
                <a:latin typeface="Georgia"/>
              </a:rPr>
              <a:t>→ </a:t>
            </a:r>
            <a:r>
              <a:rPr sz="4400" b="1" i="0">
                <a:solidFill>
                  <a:srgbClr val="1B2D24"/>
                </a:solidFill>
                <a:latin typeface="Georgia"/>
              </a:rPr>
              <a:t>609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5349"/>
                </a:solidFill>
                <a:latin typeface="Calibri"/>
              </a:rPr>
              <a:t>Looks fine. Seed order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4709160" cy="4160520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069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WHAT THE APP SHOWS  ·  JUNE–AUGUST</a:t>
            </a:r>
          </a:p>
          <a:p>
            <a:pPr algn="l">
              <a:spcBef>
                <a:spcPts val="1400"/>
              </a:spcBef>
              <a:spcAft>
                <a:spcPts val="1200"/>
              </a:spcAft>
            </a:pPr>
            <a:r>
              <a:rPr sz="4400" b="1" i="0">
                <a:solidFill>
                  <a:srgbClr val="A84840"/>
                </a:solidFill>
                <a:latin typeface="Georgia"/>
              </a:rPr>
              <a:t>−241 </a:t>
            </a:r>
            <a:r>
              <a:rPr sz="3200" b="0" i="0">
                <a:solidFill>
                  <a:srgbClr val="6A7C72"/>
                </a:solidFill>
                <a:latin typeface="Georgia"/>
              </a:rPr>
              <a:t>→ </a:t>
            </a:r>
            <a:r>
              <a:rPr sz="4400" b="1" i="0">
                <a:solidFill>
                  <a:srgbClr val="A84840"/>
                </a:solidFill>
                <a:latin typeface="Georgia"/>
              </a:rPr>
              <a:t>−298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5349"/>
                </a:solidFill>
                <a:latin typeface="Calibri"/>
              </a:rPr>
              <a:t>−57 mm of extra thirst. Hidden in a “stable”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Split the year. Summer rain 187→158 mm, crop demand 428→456. The rain gauge was lying to him.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Same field, two crops. He would treat maize and wheat as one climate. They do not drink in the same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49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NOVI SAD  ·  SAME CLIMATE, DIFFERENT THIRST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143000"/>
            <a:ext cx="4709160" cy="4160520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508760"/>
            <a:ext cx="4069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MAIZE  ·  HIS MAIN CROP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5200" b="1" i="0">
                <a:solidFill>
                  <a:srgbClr val="A84840"/>
                </a:solidFill>
                <a:latin typeface="Georgia"/>
              </a:rPr>
              <a:t>2.48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E5349"/>
                </a:solidFill>
                <a:latin typeface="Calibri"/>
              </a:rPr>
              <a:t>Drinks June–August — the window that dried. 501k ha in Vojvodina.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389120"/>
            <a:ext cx="2194560" cy="384048"/>
          </a:xfrm>
          <a:prstGeom prst="roundRect">
            <a:avLst>
              <a:gd name="adj" fmla="val 16000"/>
            </a:avLst>
          </a:prstGeom>
          <a:solidFill>
            <a:srgbClr val="F8E8E6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3982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4840"/>
                </a:solidFill>
                <a:latin typeface="Calibri"/>
              </a:rPr>
              <a:t>highest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4709160" cy="416052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069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WHEAT  ·  OFF THE FIELD FIRST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5200" b="1" i="0">
                <a:solidFill>
                  <a:srgbClr val="1B2D24"/>
                </a:solidFill>
                <a:latin typeface="Georgia"/>
              </a:rPr>
              <a:t>stable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E5349"/>
                </a:solidFill>
                <a:latin typeface="Calibri"/>
              </a:rPr>
              <a:t>Grain fill in May. Harvested before the bad July–August.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389120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E4F0E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982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F46"/>
                </a:solidFill>
                <a:latin typeface="Calibri"/>
              </a:rPr>
              <a:t>0.41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The app scores his real crops with FAO water math — not a generic “plant something else.” Maize is the decision. Wheat can wait.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His uncle in Banat says the fields scorched. Milan cannot tell if that is weather talk — or a reason to change seed.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ZRENJANIN  ·  DAYS ≥ 35°C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6A7C72"/>
                </a:solidFill>
                <a:latin typeface="Georgia"/>
              </a:rPr>
              <a:t>2.7  </a:t>
            </a:r>
            <a:r>
              <a:rPr sz="6400" b="0" i="0">
                <a:solidFill>
                  <a:srgbClr val="6A7C72"/>
                </a:solidFill>
                <a:latin typeface="Georgia"/>
              </a:rPr>
              <a:t>→  </a:t>
            </a:r>
            <a:r>
              <a:rPr sz="8800" b="1" i="0">
                <a:solidFill>
                  <a:srgbClr val="A84840"/>
                </a:solidFill>
                <a:latin typeface="Georgia"/>
              </a:rPr>
              <a:t>8.0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3E5349"/>
                </a:solidFill>
                <a:latin typeface="Calibri"/>
              </a:rPr>
              <a:t>Nearly triple. Summer deficit −260 → −312 mm. Worst pin in the set.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A7C72"/>
                </a:solidFill>
                <a:latin typeface="Calibri"/>
              </a:rPr>
              <a:t>Outlook 46–55 days above 30°C in the 2030s — a range, not a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The app names the urgent field so he does not average Banat with the rest of Serbia. Heat plus thirst, before the next sowing.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7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His cousin near Niš says nothing changed. If a tool shouts crisis on every map, Milan will not trust it with his seed 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498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NIŠ  ·  THE COUSIN WHO IS 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05156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B2D24"/>
                </a:solidFill>
                <a:latin typeface="Georgia"/>
              </a:rPr>
              <a:t>No change indicated.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423160"/>
            <a:ext cx="4709160" cy="2468880"/>
          </a:xfrm>
          <a:prstGeom prst="roundRect">
            <a:avLst>
              <a:gd name="adj" fmla="val 16000"/>
            </a:avLst>
          </a:prstGeom>
          <a:solidFill>
            <a:srgbClr val="ECF6EF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43200"/>
            <a:ext cx="4069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ANNUAL RAIN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4000" b="1" i="0">
                <a:solidFill>
                  <a:srgbClr val="2F5F46"/>
                </a:solidFill>
                <a:latin typeface="Georgia"/>
              </a:rPr>
              <a:t>521 </a:t>
            </a:r>
            <a:r>
              <a:rPr sz="2800" b="0" i="0">
                <a:solidFill>
                  <a:srgbClr val="6A7C72"/>
                </a:solidFill>
                <a:latin typeface="Georgia"/>
              </a:rPr>
              <a:t>→ </a:t>
            </a:r>
            <a:r>
              <a:rPr sz="4000" b="1" i="0">
                <a:solidFill>
                  <a:srgbClr val="2F5F46"/>
                </a:solidFill>
                <a:latin typeface="Georgia"/>
              </a:rPr>
              <a:t>682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4709160" cy="2468880"/>
          </a:xfrm>
          <a:prstGeom prst="roundRect">
            <a:avLst>
              <a:gd name="adj" fmla="val 16000"/>
            </a:avLst>
          </a:prstGeom>
          <a:solidFill>
            <a:srgbClr val="ECF6EF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069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SUMMER WATER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4000" b="1" i="0">
                <a:solidFill>
                  <a:srgbClr val="2F5F46"/>
                </a:solidFill>
                <a:latin typeface="Georgia"/>
              </a:rPr>
              <a:t>−287 </a:t>
            </a:r>
            <a:r>
              <a:rPr sz="2800" b="0" i="0">
                <a:solidFill>
                  <a:srgbClr val="6A7C72"/>
                </a:solidFill>
                <a:latin typeface="Georgia"/>
              </a:rPr>
              <a:t>→ </a:t>
            </a:r>
            <a:r>
              <a:rPr sz="4000" b="1" i="0">
                <a:solidFill>
                  <a:srgbClr val="2F5F46"/>
                </a:solidFill>
                <a:latin typeface="Georgia"/>
              </a:rPr>
              <a:t>−270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The app says spend nothing here. Trust is the feature: it is quiet where the data is quiet.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He will not download ERA5, FAO tables, or three climate models. He will not read a research paper before February.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7724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WHAT HE OPENS INSTEAD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70432"/>
            <a:ext cx="3337560" cy="443484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463040"/>
            <a:ext cx="2880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MEMORY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B2D24"/>
                </a:solidFill>
                <a:latin typeface="Georgia"/>
              </a:rPr>
              <a:t>His weather, already counted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5349"/>
                </a:solidFill>
                <a:latin typeface="Calibri"/>
              </a:rPr>
              <a:t>Open ERA5 via one API. Hot days, summer rain, crop demand. The history he could not see on a gauge.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170432"/>
            <a:ext cx="3337560" cy="443484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463040"/>
            <a:ext cx="2880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EXPOSURE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B2D24"/>
                </a:solidFill>
                <a:latin typeface="Georgia"/>
              </a:rPr>
              <a:t>His crops, not mango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5349"/>
                </a:solidFill>
                <a:latin typeface="Calibri"/>
              </a:rPr>
              <a:t>FAO water math on maize, wheat, sunflower, soybean. The app names which plant drinks in the bad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170432"/>
            <a:ext cx="3337560" cy="443484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463040"/>
            <a:ext cx="288036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PLAN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1B2D24"/>
                </a:solidFill>
                <a:latin typeface="Georgia"/>
              </a:rPr>
              <a:t>A report he can read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5349"/>
                </a:solidFill>
                <a:latin typeface="Calibri"/>
              </a:rPr>
              <a:t>Grok writes four parts — what changed, what it means, what to do, what to watch — from measured numbers only. No invented seed brands.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One screen: pick the field, see the months, generate the plan. Open data in. Human report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C5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B8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65392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AgriSense  ·  Milan’s field  ·  not an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653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C72"/>
                </a:solidFill>
                <a:latin typeface="Calibri"/>
              </a:rP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A7C72"/>
                </a:solidFill>
                <a:latin typeface="Calibri"/>
              </a:rPr>
              <a:t>HIS PROBLEM  ·  February is coming. He still has to lock a seed order for one plot — not for Serbia.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772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7C72"/>
                </a:solidFill>
                <a:latin typeface="Calibri"/>
              </a:rPr>
              <a:t>MEASURED  ·  NOT A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B2D24"/>
                </a:solidFill>
                <a:latin typeface="Georgia"/>
              </a:rPr>
              <a:t>A decision for Milan’s field.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3767" y="2468880"/>
            <a:ext cx="1600200" cy="1874519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0715" y="2724912"/>
            <a:ext cx="146304" cy="146304"/>
          </a:xfrm>
          <a:prstGeom prst="ellipse">
            <a:avLst/>
          </a:prstGeom>
          <a:solidFill>
            <a:srgbClr val="A8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8631" y="2971800"/>
            <a:ext cx="1490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24"/>
                </a:solidFill>
                <a:latin typeface="Calibri"/>
              </a:rPr>
              <a:t>Subotica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7C72"/>
                </a:solidFill>
                <a:latin typeface="Calibri"/>
              </a:rPr>
              <a:t>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8559" y="2468880"/>
            <a:ext cx="1600200" cy="1874519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75507" y="2724912"/>
            <a:ext cx="146304" cy="146304"/>
          </a:xfrm>
          <a:prstGeom prst="ellipse">
            <a:avLst/>
          </a:prstGeom>
          <a:solidFill>
            <a:srgbClr val="A8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3423" y="2971800"/>
            <a:ext cx="1490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24"/>
                </a:solidFill>
                <a:latin typeface="Calibri"/>
              </a:rPr>
              <a:t>Novi Sad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7C72"/>
                </a:solidFill>
                <a:latin typeface="Calibri"/>
              </a:rPr>
              <a:t>HIS PLOT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3351" y="2468880"/>
            <a:ext cx="1600200" cy="1874519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40299" y="2724912"/>
            <a:ext cx="146304" cy="146304"/>
          </a:xfrm>
          <a:prstGeom prst="ellipse">
            <a:avLst/>
          </a:prstGeom>
          <a:solidFill>
            <a:srgbClr val="A8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8215" y="2971800"/>
            <a:ext cx="1490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24"/>
                </a:solidFill>
                <a:latin typeface="Calibri"/>
              </a:rPr>
              <a:t>Zrenjanin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7C72"/>
                </a:solidFill>
                <a:latin typeface="Calibri"/>
              </a:rPr>
              <a:t>UNCLE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2468880"/>
            <a:ext cx="1600200" cy="1874519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5091" y="2724912"/>
            <a:ext cx="146304" cy="146304"/>
          </a:xfrm>
          <a:prstGeom prst="ellipse">
            <a:avLst/>
          </a:prstGeom>
          <a:solidFill>
            <a:srgbClr val="2F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2971800"/>
            <a:ext cx="1490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24"/>
                </a:solidFill>
                <a:latin typeface="Calibri"/>
              </a:rPr>
              <a:t>Belgrade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7C72"/>
                </a:solidFill>
                <a:latin typeface="Calibri"/>
              </a:rPr>
              <a:t>FLAT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42935" y="2468880"/>
            <a:ext cx="1600200" cy="1874519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69883" y="2724912"/>
            <a:ext cx="146304" cy="146304"/>
          </a:xfrm>
          <a:prstGeom prst="ellipse">
            <a:avLst/>
          </a:prstGeom>
          <a:solidFill>
            <a:srgbClr val="2F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7799" y="2971800"/>
            <a:ext cx="1490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24"/>
                </a:solidFill>
                <a:latin typeface="Calibri"/>
              </a:rPr>
              <a:t>Kraljevo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7C72"/>
                </a:solidFill>
                <a:latin typeface="Calibri"/>
              </a:rPr>
              <a:t>STABLE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7727" y="2468880"/>
            <a:ext cx="1600200" cy="1874519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34675" y="2724912"/>
            <a:ext cx="146304" cy="146304"/>
          </a:xfrm>
          <a:prstGeom prst="ellipse">
            <a:avLst/>
          </a:prstGeom>
          <a:solidFill>
            <a:srgbClr val="2F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2591" y="2971800"/>
            <a:ext cx="14904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24"/>
                </a:solidFill>
                <a:latin typeface="Calibri"/>
              </a:rPr>
              <a:t>Niš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7C72"/>
                </a:solidFill>
                <a:latin typeface="Calibri"/>
              </a:rPr>
              <a:t>COUSIN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262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E5349"/>
                </a:solidFill>
                <a:latin typeface="Calibri"/>
              </a:rPr>
              <a:t>The rain gauge hid a worse summer on his plot. Banat is urgent. Niš is not.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A7C72"/>
                </a:solidFill>
                <a:latin typeface="Calibri"/>
              </a:rPr>
              <a:t>Better weather models will sharpen next week and next summer. Today, open data plus a plan he can read.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5F46"/>
                </a:solidFill>
                <a:latin typeface="Calibri"/>
              </a:rPr>
              <a:t>AGRISENSE  ·  AgriSense: his history, his crops, his report. Not a forecast. A seed-order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